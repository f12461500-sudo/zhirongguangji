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jpe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4.png"/><Relationship Id="rId7" Type="http://schemas.openxmlformats.org/officeDocument/2006/relationships/image" Target="../media/image5.png"/><Relationship Id="rId12" Type="http://schemas.openxmlformats.org/officeDocument/2006/relationships/image" Target="../media/image4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jpeg"/><Relationship Id="rId11" Type="http://schemas.openxmlformats.org/officeDocument/2006/relationships/image" Target="../media/image40.png"/><Relationship Id="rId5" Type="http://schemas.openxmlformats.org/officeDocument/2006/relationships/image" Target="../media/image36.jpeg"/><Relationship Id="rId10" Type="http://schemas.openxmlformats.org/officeDocument/2006/relationships/image" Target="../media/image39.svg"/><Relationship Id="rId4" Type="http://schemas.openxmlformats.org/officeDocument/2006/relationships/image" Target="../media/image35.svg"/><Relationship Id="rId9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智融光迹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317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基于神经网络的激光轨迹优化技术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191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攻克航空航天等领域难加工材料的制造瓶颈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5651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项目类型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科技创新类</a:t>
            </a:r>
          </a:p>
        </p:txBody>
      </p:sp>
      <p:sp>
        <p:nvSpPr>
          <p:cNvPr id="8" name="AutoShape 8"/>
          <p:cNvSpPr/>
          <p:nvPr/>
        </p:nvSpPr>
        <p:spPr>
          <a:xfrm>
            <a:off x="3556000" y="5651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</a:pPr>
            <a:endParaRPr lang="en-US" sz="1500" b="0" i="0" u="none" strike="noStrike" dirty="0">
              <a:solidFill>
                <a:srgbClr val="F5F5F7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096000" y="5651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8636000" y="5651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 dirty="0" err="1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汇报时间</a:t>
            </a:r>
            <a:endParaRPr lang="en-US" sz="1100" dirty="0"/>
          </a:p>
          <a:p>
            <a:pPr marL="0" indent="0" algn="ctr">
              <a:lnSpc>
                <a:spcPct val="125000"/>
              </a:lnSpc>
            </a:pPr>
            <a:r>
              <a:rPr lang="en-US" sz="1500" b="0" i="0" u="none" strike="noStrike" dirty="0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sz="2800" b="0" i="0" u="none" strike="noStrike">
                <a:solidFill>
                  <a:srgbClr val="A0A0A2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2D2D30">
              <a:alpha val="100000"/>
            </a:srgbClr>
          </a:solidFill>
          <a:ln w="12700" cap="flat" cmpd="sng">
            <a:solidFill>
              <a:srgbClr val="3C3C4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101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159000" y="18796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项目概述与市场痛点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AAAAAF"/>
                </a:solidFill>
                <a:latin typeface="Noto Sans SC"/>
                <a:ea typeface="Noto Sans SC"/>
                <a:cs typeface="Noto Sans SC"/>
                <a:sym typeface="Noto Sans SC"/>
              </a:rPr>
              <a:t>制造业的“硬骨头”与现有方案的局限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1651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2D2D30">
              <a:alpha val="100000"/>
            </a:srgbClr>
          </a:solidFill>
          <a:ln w="12700" cap="flat" cmpd="sng">
            <a:solidFill>
              <a:srgbClr val="3C3C4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477000" y="1905000"/>
            <a:ext cx="101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0" y="18796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我们的创新解决方案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AAAAAF"/>
                </a:solidFill>
                <a:latin typeface="Noto Sans SC"/>
                <a:ea typeface="Noto Sans SC"/>
                <a:cs typeface="Noto Sans SC"/>
                <a:sym typeface="Noto Sans SC"/>
              </a:rPr>
              <a:t>从“正向”到“逆向”的思维革命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2D2D30">
              <a:alpha val="100000"/>
            </a:srgbClr>
          </a:solidFill>
          <a:ln w="12700" cap="flat" cmpd="sng">
            <a:solidFill>
              <a:srgbClr val="3C3C4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3683000"/>
            <a:ext cx="101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159000" y="36576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核心技术深度解析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AAAAAF"/>
                </a:solidFill>
                <a:latin typeface="Noto Sans SC"/>
                <a:ea typeface="Noto Sans SC"/>
                <a:cs typeface="Noto Sans SC"/>
                <a:sym typeface="Noto Sans SC"/>
              </a:rPr>
              <a:t>数学模型与神经网络引擎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3429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2D2D30">
              <a:alpha val="100000"/>
            </a:srgbClr>
          </a:solidFill>
          <a:ln w="12700" cap="flat" cmpd="sng">
            <a:solidFill>
              <a:srgbClr val="3C3C4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477000" y="3683000"/>
            <a:ext cx="101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0" y="36576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实验验证与成果展示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AAAAAF"/>
                </a:solidFill>
                <a:latin typeface="Noto Sans SC"/>
                <a:ea typeface="Noto Sans SC"/>
                <a:cs typeface="Noto Sans SC"/>
                <a:sym typeface="Noto Sans SC"/>
              </a:rPr>
              <a:t>从“不均”到“均匀”的质变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2D2D30">
              <a:alpha val="100000"/>
            </a:srgbClr>
          </a:solidFill>
          <a:ln w="12700" cap="flat" cmpd="sng">
            <a:solidFill>
              <a:srgbClr val="3C3C4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5334000"/>
            <a:ext cx="101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159000" y="53086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应用前景与市场价值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AAAAAF"/>
                </a:solidFill>
                <a:latin typeface="Noto Sans SC"/>
                <a:ea typeface="Noto Sans SC"/>
                <a:cs typeface="Noto Sans SC"/>
                <a:sym typeface="Noto Sans SC"/>
              </a:rPr>
              <a:t>广阔的应用领域与商业潜力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223000" y="5080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2D2D30">
              <a:alpha val="100000"/>
            </a:srgbClr>
          </a:solidFill>
          <a:ln w="12700" cap="flat" cmpd="sng">
            <a:solidFill>
              <a:srgbClr val="3C3C4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477000" y="5334000"/>
            <a:ext cx="1016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0" y="53086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团队介绍与未来规划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AAAAAF"/>
                </a:solidFill>
                <a:latin typeface="Noto Sans SC"/>
                <a:ea typeface="Noto Sans SC"/>
                <a:cs typeface="Noto Sans SC"/>
                <a:sym typeface="Noto Sans SC"/>
              </a:rPr>
              <a:t>专业团队与长远发展蓝图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项目概述与市场痛点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080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 spc="100">
                <a:solidFill>
                  <a:srgbClr val="F5F5F7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PROJECT OVERVIEW &amp; MARKET PAIN POINTS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项目背景：制造业的“硬骨头”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随着航空航天、国防军工等高端制造领域的飞速发展，对高性能材料的需求日益迫切。镍基/钛基超合金、陶瓷基复合材料等先进工程材料，因其卓越的耐高温、高强度和耐腐蚀性，成为制造核心部件的首选。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540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l="24061" r="24061"/>
          <a:stretch>
            <a:fillRect/>
          </a:stretch>
        </p:blipFill>
        <p:spPr>
          <a:xfrm>
            <a:off x="952500" y="2794000"/>
            <a:ext cx="1778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921000" y="29210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航空发动机涡轮叶片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处于发动机的“热端”核心部位，长期承受极端高温燃气冲击与巨大离心力，对材料的耐热性、抗疲劳性和结构稳定性要求极高。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2540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 t="7121" b="7121"/>
          <a:stretch>
            <a:fillRect/>
          </a:stretch>
        </p:blipFill>
        <p:spPr>
          <a:xfrm>
            <a:off x="6413500" y="2794000"/>
            <a:ext cx="1778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8382000" y="29210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飞机起落架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飞机的关键承力部件，直接关系飞行安全。在起降过程中需承受飞机的巨大重量、剧烈的冲击载荷与地面摩擦力，对材料的综合力学性能有严苛要求。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5588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00E5FF">
              <a:alpha val="10000"/>
            </a:srgbClr>
          </a:solidFill>
          <a:ln w="12700" cap="flat" cmpd="sng">
            <a:solidFill>
              <a:srgbClr val="00E5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5740400"/>
            <a:ext cx="1066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这些材料性能卓越但加工难度极大，被业界誉为</a:t>
            </a:r>
            <a:r>
              <a:rPr lang="en-US" sz="18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“难加工材料”</a:t>
            </a:r>
            <a:r>
              <a:rPr lang="en-US" sz="1600" b="0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，是制约高端制造能力突破的关键瓶颈。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核心挑战：传统加工的困境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1968500"/>
          </a:xfrm>
          <a:prstGeom prst="roundRect">
            <a:avLst>
              <a:gd name="adj" fmla="val 5161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2095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905000"/>
            <a:ext cx="355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01. 加工效率低下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难加工材料切削力大，导致加工速度受限，生产周期大幅延长，难以满足大规模制造的交付需求。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1968500"/>
          </a:xfrm>
          <a:prstGeom prst="roundRect">
            <a:avLst>
              <a:gd name="adj" fmla="val 5161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76200" cy="19685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2095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493000" y="1905000"/>
            <a:ext cx="355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02. 刀具损耗严重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加工过程中刀具磨损极快，寿命大幅缩短，频繁的停机换刀不仅打断生产节奏，更使综合成本飙升。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3937000"/>
            <a:ext cx="5207000" cy="1968500"/>
          </a:xfrm>
          <a:prstGeom prst="roundRect">
            <a:avLst>
              <a:gd name="adj" fmla="val 5161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3937000"/>
            <a:ext cx="76200" cy="19685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43000" y="4381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032000" y="4191000"/>
            <a:ext cx="355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03. 加工质量堪忧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切削热易引发加工硬化和表面残余应力，甚至产生肉眼难见的微裂纹，直接降低零件的疲劳强度与使用寿命。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3937000"/>
            <a:ext cx="5207000" cy="1968500"/>
          </a:xfrm>
          <a:prstGeom prst="roundRect">
            <a:avLst>
              <a:gd name="adj" fmla="val 5161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223000" y="3937000"/>
            <a:ext cx="76200" cy="19685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43815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493000" y="4191000"/>
            <a:ext cx="355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04. 环境与成本压力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为抑制高温需消耗大量昂贵的切削液，不仅增加了物料与处理成本，更造成废水废气排放，带来环保合规压力。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6096000"/>
            <a:ext cx="10668000" cy="571500"/>
          </a:xfrm>
          <a:prstGeom prst="roundRect">
            <a:avLst>
              <a:gd name="adj" fmla="val 13333"/>
            </a:avLst>
          </a:prstGeom>
          <a:solidFill>
            <a:srgbClr val="00E5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6096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结论：传统加工方法已无法满足现代高端制造对效率、成本和质量的严苛要求。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现有解决方案及其局限性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2C2C2E">
              <a:alpha val="10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87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主流方案：激光辅助加工 (LAM)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540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原理：</a:t>
            </a: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利用激光束对工件进行局部预热，使其软化，从而降低切削力，改善材料的加工性能。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已被证实能有效降低切削力、显著延长刀具使用寿命，并提高最终加工表面的精度与质量。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2C2C2E">
              <a:alpha val="10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445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441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B6B"/>
                </a:solidFill>
                <a:latin typeface="Noto Sans SC"/>
                <a:ea typeface="Noto Sans SC"/>
                <a:cs typeface="Noto Sans SC"/>
                <a:sym typeface="Noto Sans SC"/>
              </a:rPr>
              <a:t>技术瓶颈：LAMill 的“均匀加热”难题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50800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固定光斑限制：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当铣削宽度大于光斑直径时，无法覆盖全部加工区域，直接导致软化效果不均。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扫描策略缺陷：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传统往复或振荡扫描会造成轨迹点分布“边缘密集、中间稀疏”，形成“两侧热、中间冷”的哑铃状温度场。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2C2C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rcRect t="25339" b="25339"/>
          <a:stretch>
            <a:fillRect/>
          </a:stretch>
        </p:blipFill>
        <p:spPr>
          <a:xfrm>
            <a:off x="6477000" y="2032000"/>
            <a:ext cx="4699000" cy="2921000"/>
          </a:xfrm>
          <a:prstGeom prst="rect">
            <a:avLst/>
          </a:prstGeom>
          <a:noFill/>
          <a:ln w="12700" cap="flat" cmpd="sng">
            <a:solidFill>
              <a:srgbClr val="505050">
                <a:alpha val="100000"/>
              </a:srgbClr>
            </a:solidFill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6477000" y="5207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轨迹点分布 vs. 温度场分布示意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轨迹点分布不均直接导致了能量输入与温度场的非均匀性，严重影响加工一致性。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397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429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我们的创新解决方案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953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 spc="200">
                <a:solidFill>
                  <a:srgbClr val="F5F5F7">
                    <a:alpha val="6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OUR INNOVATIVE SOLUTION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项目总览：从“正向”到“逆向”的思维革命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2D2D3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159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2133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传统思路 (正向问题)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175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BDBDBD"/>
                </a:solidFill>
                <a:latin typeface="Noto Sans SC"/>
                <a:ea typeface="Noto Sans SC"/>
                <a:cs typeface="Noto Sans SC"/>
                <a:sym typeface="Noto Sans SC"/>
              </a:rPr>
              <a:t>已知激光参数 (功率、轨迹)</a:t>
            </a:r>
            <a:r>
              <a:rPr lang="en-US" sz="1600" b="0" i="0" u="none" strike="noStrike">
                <a:solidFill>
                  <a:srgbClr val="757575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r>
              <a:rPr lang="en-US" sz="1600" b="0" i="0" u="none" strike="noStrike">
                <a:solidFill>
                  <a:srgbClr val="BDBDBD"/>
                </a:solidFill>
                <a:latin typeface="Noto Sans SC"/>
                <a:ea typeface="Noto Sans SC"/>
                <a:cs typeface="Noto Sans SC"/>
                <a:sym typeface="Noto Sans SC"/>
              </a:rPr>
              <a:t>计算产生的温度场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699000"/>
            <a:ext cx="4699000" cy="1143000"/>
          </a:xfrm>
          <a:prstGeom prst="roundRect">
            <a:avLst>
              <a:gd name="adj" fmla="val 0"/>
            </a:avLst>
          </a:prstGeom>
          <a:solidFill>
            <a:srgbClr val="424242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06500" y="4953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E9E9E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这是一个复杂的物理过程，但难以建立直接反馈，无法高效指导工艺优化。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76200" cy="43180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2159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62800" y="2133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我们的思路 (逆向问题)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3048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以终为始：</a:t>
            </a:r>
            <a:r>
              <a:rPr lang="en-US" sz="16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定义理想的、均匀的目标温度场</a:t>
            </a: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→ 反向推导出</a:t>
            </a:r>
            <a:r>
              <a:rPr lang="en-US" sz="16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实现该状态的最优激光参数 (功率/轨迹)。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0" y="4572000"/>
            <a:ext cx="4572000" cy="1397000"/>
          </a:xfrm>
          <a:prstGeom prst="roundRect">
            <a:avLst>
              <a:gd name="adj" fmla="val 0"/>
            </a:avLst>
          </a:prstGeom>
          <a:solidFill>
            <a:srgbClr val="121212">
              <a:alpha val="90000"/>
            </a:srgbClr>
          </a:solidFill>
          <a:ln w="12700" cap="flat" cmpd="sng">
            <a:solidFill>
              <a:srgbClr val="00E5F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794500" y="4826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核心创新：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提出一种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基于神经网络的可控温度场激光加热方法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，将复杂的物理优化问题转化为高效的模型预测问题。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技术框架：双模型驱动的精准控制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我们的解决方案由两大核心模型构成，可分别或协同工作，实现对激光加工过程的双重优化，确保加工精度与效率的完美平衡。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5207000" cy="3556000"/>
          </a:xfrm>
          <a:prstGeom prst="roundRect">
            <a:avLst>
              <a:gd name="adj" fmla="val 2857"/>
            </a:avLst>
          </a:prstGeom>
          <a:solidFill>
            <a:srgbClr val="2A2A2A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76200" cy="35560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2730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841500" y="2667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功率优化模型</a:t>
            </a:r>
            <a:r>
              <a:rPr lang="en-US" sz="14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Power Optimization Model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43000" y="3683000"/>
            <a:ext cx="457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核心目标：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在</a:t>
            </a:r>
            <a:r>
              <a:rPr lang="en-US" sz="13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固定激光轨迹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的基础上，通过实时、动态地调整激光功率输出，精准构建目标温度场，避免能量过冲或不足。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5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⚙️ 实现方式：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利用PWM (脉宽调制) 技术，根据轨迹的几何特征与点密度分布，在不同位置输出差异化功率，有效弥补因轨迹点密度不均而造成的能量输入差异。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2413000"/>
            <a:ext cx="5207000" cy="3556000"/>
          </a:xfrm>
          <a:prstGeom prst="roundRect">
            <a:avLst>
              <a:gd name="adj" fmla="val 2857"/>
            </a:avLst>
          </a:prstGeom>
          <a:solidFill>
            <a:srgbClr val="2A2A2A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2413000"/>
            <a:ext cx="76200" cy="35560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2730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302500" y="2667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轨迹优化模型</a:t>
            </a:r>
            <a:r>
              <a:rPr lang="en-US" sz="14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Trajectory Optimization Model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0" y="3683000"/>
            <a:ext cx="457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5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核心目标：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在</a:t>
            </a:r>
            <a:r>
              <a:rPr lang="en-US" sz="13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恒定激光功率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的条件下，通过算法微调激光运动轨迹的形态与路径，达成能量场的均匀分布，确保加工一致性。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5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⚙️ 实现方式：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基于物理仿真与智能算法，动态调整轨迹点的分布密度与运动路径，让能量输入在空间维度上更均匀，适应复杂的几何加工需求。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524000"/>
            <a:ext cx="1219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核心技术深度解析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20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 spc="200">
                <a:solidFill>
                  <a:srgbClr val="F5F5F7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CORE TECHNOLOGY DEEP DIVE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基础构建：精准的数学模型 (轨迹生成与优化)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2D2D30">
              <a:alpha val="100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23497" b="23497"/>
          <a:stretch>
            <a:fillRect/>
          </a:stretch>
        </p:blipFill>
        <p:spPr>
          <a:xfrm>
            <a:off x="1016000" y="1905000"/>
            <a:ext cx="2794000" cy="190500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952500" y="4064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01 / 轨迹均匀化：等弧长采样法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4826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D2D2D7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针对原始轨迹点分布不均的问题，提出</a:t>
            </a:r>
            <a:r>
              <a:rPr lang="en-US" sz="13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等弧长采样法</a:t>
            </a:r>
            <a:r>
              <a:rPr lang="en-US" sz="1300" b="0" i="0" u="none" strike="noStrike">
                <a:solidFill>
                  <a:srgbClr val="D2D2D7"/>
                </a:solidFill>
                <a:latin typeface="Noto Sans SC"/>
                <a:ea typeface="Noto Sans SC"/>
                <a:cs typeface="Noto Sans SC"/>
                <a:sym typeface="Noto Sans SC"/>
              </a:rPr>
              <a:t>。通过对轨迹进行重新插值，确保激光在整个扫描周期内</a:t>
            </a: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匀速运动</a:t>
            </a:r>
            <a:r>
              <a:rPr lang="en-US" sz="1300" b="0" i="0" u="none" strike="noStrike">
                <a:solidFill>
                  <a:srgbClr val="D2D2D7"/>
                </a:solidFill>
                <a:latin typeface="Noto Sans SC"/>
                <a:ea typeface="Noto Sans SC"/>
                <a:cs typeface="Noto Sans SC"/>
                <a:sym typeface="Noto Sans SC"/>
              </a:rPr>
              <a:t>，从根本上消除因速度变化导致的能量输入误差。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2D2D30">
              <a:alpha val="100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500" y="2032000"/>
            <a:ext cx="1143000" cy="1143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635500" y="3429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02 / 复杂轨迹适配：</a:t>
            </a:r>
            <a:br>
              <a:rPr lang="en-US" sz="19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9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动态轨迹生成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4572000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D2D2D7"/>
                </a:solidFill>
                <a:latin typeface="Noto Sans SC"/>
                <a:ea typeface="Noto Sans SC"/>
                <a:cs typeface="Noto Sans SC"/>
                <a:sym typeface="Noto Sans SC"/>
              </a:rPr>
              <a:t>创新提出</a:t>
            </a:r>
            <a:r>
              <a:rPr lang="en-US" sz="13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基于坐标变换的动态轨迹生成方法</a:t>
            </a:r>
            <a:r>
              <a:rPr lang="en-US" sz="1300" b="0" i="0" u="none" strike="noStrike">
                <a:solidFill>
                  <a:srgbClr val="D2D2D7"/>
                </a:solidFill>
                <a:latin typeface="Noto Sans SC"/>
                <a:ea typeface="Noto Sans SC"/>
                <a:cs typeface="Noto Sans SC"/>
                <a:sym typeface="Noto Sans SC"/>
              </a:rPr>
              <a:t>，系统可实时捕捉铣刀运动方向并动态调整激光振荡轨迹，保障激光始终跟随铣刀，精准适配复杂曲面的加工需求。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3302000" cy="4699000"/>
          </a:xfrm>
          <a:prstGeom prst="roundRect">
            <a:avLst>
              <a:gd name="adj" fmla="val 4615"/>
            </a:avLst>
          </a:prstGeom>
          <a:solidFill>
            <a:srgbClr val="2D2D30">
              <a:alpha val="100000"/>
            </a:srgbClr>
          </a:solidFill>
          <a:ln w="12700" cap="flat" cmpd="sng">
            <a:solidFill>
              <a:srgbClr val="00E5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 l="14771" r="14771"/>
          <a:stretch>
            <a:fillRect/>
          </a:stretch>
        </p:blipFill>
        <p:spPr>
          <a:xfrm>
            <a:off x="8382000" y="1905000"/>
            <a:ext cx="2794000" cy="190500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8318500" y="4064000"/>
            <a:ext cx="292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03 / 轨迹重叠规避：动态角度因子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4826000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D2D2D7"/>
                </a:solidFill>
                <a:latin typeface="Noto Sans SC"/>
                <a:ea typeface="Noto Sans SC"/>
                <a:cs typeface="Noto Sans SC"/>
                <a:sym typeface="Noto Sans SC"/>
              </a:rPr>
              <a:t>引入</a:t>
            </a:r>
            <a:r>
              <a:rPr lang="en-US" sz="13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动态角度因子</a:t>
            </a:r>
            <a:r>
              <a:rPr lang="en-US" sz="1300" b="0" i="0" u="none" strike="noStrike">
                <a:solidFill>
                  <a:srgbClr val="D2D2D7"/>
                </a:solidFill>
                <a:latin typeface="Noto Sans SC"/>
                <a:ea typeface="Noto Sans SC"/>
                <a:cs typeface="Noto Sans SC"/>
                <a:sym typeface="Noto Sans SC"/>
              </a:rPr>
              <a:t>算法，在铣刀执行转弯或走曲线动作时，自动且智能地减弱激光轨迹的弯折幅度，有效规避轨迹交叠，防止局部热量过度聚集。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核心引擎：神经网络模型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413000"/>
          </a:xfrm>
          <a:prstGeom prst="roundRect">
            <a:avLst>
              <a:gd name="adj" fmla="val 4210"/>
            </a:avLst>
          </a:prstGeom>
          <a:solidFill>
            <a:srgbClr val="282828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7526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47800" y="17272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模型构建 · MODEL CONSTRUCTION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⚡ 网络结构：</a:t>
            </a: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TensorFlow Keras 搭建的卷积神经网络 (CNN)，专为处理高维网格温度场数据设计，能精准捕捉局部特征。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🔄 逆向训练策略：</a:t>
            </a: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通过模拟生成“参数-温度场”映射数据库，并反转输入输出逻辑，让模型直接学习从“目标温度场”推导“最优激光参数”。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2413000"/>
          </a:xfrm>
          <a:prstGeom prst="roundRect">
            <a:avLst>
              <a:gd name="adj" fmla="val 4210"/>
            </a:avLst>
          </a:prstGeom>
          <a:solidFill>
            <a:srgbClr val="282828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1752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08800" y="17272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模型效果 · POWER OPTIMIZATION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413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核心逻辑：</a:t>
            </a: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输入“理想均匀温度场”，输出随时间/空间动态变化的“激光功率控制曲线”。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✨ 智能效果：</a:t>
            </a: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模型自动实现“冷区加功率、热区降功率”的动态补偿，最终合成出高度均匀的工艺温度场，解决传统方案的均匀性难题。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 t="12306" b="12306"/>
          <a:stretch>
            <a:fillRect/>
          </a:stretch>
        </p:blipFill>
        <p:spPr>
          <a:xfrm>
            <a:off x="762000" y="4191000"/>
            <a:ext cx="10668000" cy="2159000"/>
          </a:xfrm>
          <a:prstGeom prst="rect">
            <a:avLst/>
          </a:prstGeom>
          <a:noFill/>
          <a:ln w="12700" cap="flat" cmpd="sng">
            <a:solidFill>
              <a:srgbClr val="505050">
                <a:alpha val="10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397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实验验证与成果展示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08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 spc="200">
                <a:solidFill>
                  <a:srgbClr val="F5F5F7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EXPERIMENTS &amp; RESULTS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核心成果：从“不均”到“均匀”的质变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12720" b="12720"/>
          <a:stretch>
            <a:fillRect/>
          </a:stretch>
        </p:blipFill>
        <p:spPr>
          <a:xfrm>
            <a:off x="762000" y="1397000"/>
            <a:ext cx="10668000" cy="241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762000" y="4064000"/>
            <a:ext cx="3302000" cy="2286000"/>
          </a:xfrm>
          <a:prstGeom prst="roundRect">
            <a:avLst>
              <a:gd name="adj" fmla="val 0"/>
            </a:avLst>
          </a:prstGeom>
          <a:solidFill>
            <a:srgbClr val="2C2C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4064000"/>
            <a:ext cx="76200" cy="2286000"/>
          </a:xfrm>
          <a:prstGeom prst="roundRect">
            <a:avLst>
              <a:gd name="adj" fmla="val 0"/>
            </a:avLst>
          </a:prstGeom>
          <a:solidFill>
            <a:srgbClr val="86868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41400" y="42545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E5EA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优化前：传统振荡扫描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AEAEB2"/>
                </a:solidFill>
                <a:latin typeface="Noto Sans SC"/>
                <a:ea typeface="Noto Sans SC"/>
                <a:cs typeface="Noto Sans SC"/>
                <a:sym typeface="Noto Sans SC"/>
              </a:rPr>
              <a:t>温度场呈现明显的“哑铃型”分布，热量集中在轨迹两端，中间区域温度偏低，无法满足均匀加工的工艺要求。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445000" y="4064000"/>
            <a:ext cx="3302000" cy="2286000"/>
          </a:xfrm>
          <a:prstGeom prst="roundRect">
            <a:avLst>
              <a:gd name="adj" fmla="val 0"/>
            </a:avLst>
          </a:prstGeom>
          <a:solidFill>
            <a:srgbClr val="2C2C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445000" y="4064000"/>
            <a:ext cx="76200" cy="22860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724400" y="42545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优化后：功率优化模型</a:t>
            </a:r>
            <a:endParaRPr lang="en-US" sz="1100"/>
          </a:p>
          <a:p>
            <a:pPr marL="0"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AEAEB2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通过算法实时调整激光功率，成功将“哑铃型”温度场修正为均匀的“香肠型”分布，彻底解决了中间区域温度不足的痛点。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128000" y="4064000"/>
            <a:ext cx="3302000" cy="2286000"/>
          </a:xfrm>
          <a:prstGeom prst="roundRect">
            <a:avLst>
              <a:gd name="adj" fmla="val 0"/>
            </a:avLst>
          </a:prstGeom>
          <a:solidFill>
            <a:srgbClr val="2C2C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128000" y="4064000"/>
            <a:ext cx="76200" cy="2286000"/>
          </a:xfrm>
          <a:prstGeom prst="roundRect">
            <a:avLst>
              <a:gd name="adj" fmla="val 0"/>
            </a:avLst>
          </a:prstGeom>
          <a:solidFill>
            <a:srgbClr val="34C75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407400" y="42545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↓ 80%+</a:t>
            </a:r>
            <a:r>
              <a:rPr lang="en-US" sz="1400" b="0" i="0" u="none" strike="noStrike">
                <a:solidFill>
                  <a:srgbClr val="E5E5EA"/>
                </a:solidFill>
                <a:latin typeface="Noto Sans SC"/>
                <a:ea typeface="Noto Sans SC"/>
                <a:cs typeface="Noto Sans SC"/>
                <a:sym typeface="Noto Sans SC"/>
              </a:rPr>
              <a:t>温度标准差</a:t>
            </a:r>
            <a:endParaRPr lang="en-US" sz="1100"/>
          </a:p>
          <a:p>
            <a:pPr marL="0" indent="0" algn="l">
              <a:lnSpc>
                <a:spcPct val="125000"/>
              </a:lnSpc>
              <a:spcBef>
                <a:spcPts val="2500"/>
              </a:spcBef>
            </a:pPr>
            <a:r>
              <a:rPr lang="en-US" sz="2600" b="1" i="0" u="none" strike="noStrike">
                <a:solidFill>
                  <a:srgbClr val="34C759"/>
                </a:solidFill>
                <a:latin typeface="Noto Sans SC"/>
                <a:ea typeface="Noto Sans SC"/>
                <a:cs typeface="Noto Sans SC"/>
                <a:sym typeface="Noto Sans SC"/>
              </a:rPr>
              <a:t>↓ 75%+</a:t>
            </a:r>
            <a:r>
              <a:rPr lang="en-US" sz="1400" b="0" i="0" u="none" strike="noStrike">
                <a:solidFill>
                  <a:srgbClr val="E5E5EA"/>
                </a:solidFill>
                <a:latin typeface="Noto Sans SC"/>
                <a:ea typeface="Noto Sans SC"/>
                <a:cs typeface="Noto Sans SC"/>
                <a:sym typeface="Noto Sans SC"/>
              </a:rPr>
              <a:t>最高温差</a:t>
            </a:r>
          </a:p>
          <a:p>
            <a:pPr marL="0" indent="0" algn="l">
              <a:lnSpc>
                <a:spcPct val="125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86868B"/>
                </a:solidFill>
                <a:latin typeface="Noto Sans SC"/>
                <a:ea typeface="Noto Sans SC"/>
                <a:cs typeface="Noto Sans SC"/>
                <a:sym typeface="Noto Sans SC"/>
              </a:rPr>
              <a:t>对比优化前后同条件加工数据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524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应用前景与市场价值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95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E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 spc="200">
                <a:solidFill>
                  <a:srgbClr val="F5F5F7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APPLICATION &amp; MARKET VALUE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应用领域与市场价值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2105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00E5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01 应用领域</a:t>
            </a:r>
            <a:r>
              <a:rPr lang="en-US" sz="16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/ Application Fields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540000"/>
            <a:ext cx="2286000" cy="1651000"/>
          </a:xfrm>
          <a:prstGeom prst="roundRect">
            <a:avLst>
              <a:gd name="adj" fmla="val 4615"/>
            </a:avLst>
          </a:prstGeom>
          <a:solidFill>
            <a:srgbClr val="3838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2667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641600"/>
            <a:ext cx="165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航空航天 &amp; 国防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航空：涡轮叶片、燃烧室、起落架精密加工</a:t>
            </a:r>
          </a:p>
          <a:p>
            <a:pPr marL="0"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军工：高性能武器装备核心部件制造</a:t>
            </a:r>
          </a:p>
        </p:txBody>
      </p:sp>
      <p:sp>
        <p:nvSpPr>
          <p:cNvPr id="8" name="AutoShape 8"/>
          <p:cNvSpPr/>
          <p:nvPr/>
        </p:nvSpPr>
        <p:spPr>
          <a:xfrm>
            <a:off x="3429000" y="2540000"/>
            <a:ext cx="2286000" cy="1651000"/>
          </a:xfrm>
          <a:prstGeom prst="roundRect">
            <a:avLst>
              <a:gd name="adj" fmla="val 4615"/>
            </a:avLst>
          </a:prstGeom>
          <a:solidFill>
            <a:srgbClr val="3838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l="25913" r="25913"/>
          <a:stretch>
            <a:fillRect/>
          </a:stretch>
        </p:blipFill>
        <p:spPr>
          <a:xfrm>
            <a:off x="3556000" y="2730500"/>
            <a:ext cx="825500" cy="1143000"/>
          </a:xfrm>
          <a:prstGeom prst="roundRect">
            <a:avLst>
              <a:gd name="adj" fmla="val 923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4445000" y="2730500"/>
            <a:ext cx="1206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汽车工业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发动机缸体、涡轮增压器等耐热、高强度部件的高效加工。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16000" y="4445000"/>
            <a:ext cx="4699000" cy="1651000"/>
          </a:xfrm>
          <a:prstGeom prst="roundRect">
            <a:avLst>
              <a:gd name="adj" fmla="val 4615"/>
            </a:avLst>
          </a:prstGeom>
          <a:solidFill>
            <a:srgbClr val="3838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rcRect l="5000" r="5000"/>
          <a:stretch>
            <a:fillRect/>
          </a:stretch>
        </p:blipFill>
        <p:spPr>
          <a:xfrm>
            <a:off x="1206500" y="4635500"/>
            <a:ext cx="1143000" cy="1270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2540000" y="4635500"/>
            <a:ext cx="2984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模具制造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针对大型复杂结构模具进行高效加工，解决传统加工中耗时久、精度控制难的痛点，显著缩短交付周期。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2105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00E5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7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02 市场价值</a:t>
            </a:r>
            <a:r>
              <a:rPr lang="en-US" sz="16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/ Market Value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2540000"/>
            <a:ext cx="4699000" cy="1143000"/>
          </a:xfrm>
          <a:prstGeom prst="roundRect">
            <a:avLst>
              <a:gd name="adj" fmla="val 6666"/>
            </a:avLst>
          </a:prstGeom>
          <a:solidFill>
            <a:srgbClr val="3838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28575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493000" y="27305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显著提升加工效率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针对钛合金、高温合金等难加工材料，预计可将铣削效率大幅提升</a:t>
            </a:r>
            <a:r>
              <a:rPr lang="en-US" sz="1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30% - 50%</a:t>
            </a: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477000" y="3810000"/>
            <a:ext cx="4699000" cy="1143000"/>
          </a:xfrm>
          <a:prstGeom prst="roundRect">
            <a:avLst>
              <a:gd name="adj" fmla="val 6666"/>
            </a:avLst>
          </a:prstGeom>
          <a:solidFill>
            <a:srgbClr val="3838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67500" y="4127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493000" y="40005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大幅降低生产成本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通过优化切削参数与工艺，使关键刀具寿命延长</a:t>
            </a:r>
            <a:r>
              <a:rPr lang="en-US" sz="1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50%以上</a:t>
            </a: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，并减少切削液使用，降低综合制造成本。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477000" y="5080000"/>
            <a:ext cx="4699000" cy="1143000"/>
          </a:xfrm>
          <a:prstGeom prst="roundRect">
            <a:avLst>
              <a:gd name="adj" fmla="val 6666"/>
            </a:avLst>
          </a:prstGeom>
          <a:solidFill>
            <a:srgbClr val="38383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67500" y="53975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493000" y="52705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全方位提高产品质量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减少加工缺陷，降低表面残余应力，显著提升关键零部件的疲劳寿命与长期服役的可靠性。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397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团队介绍与未来规划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953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 spc="200">
                <a:solidFill>
                  <a:srgbClr val="F5F5F7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TEAM &amp; FUTURE PLAN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核心团队与未来规划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262626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13500" y="1714500"/>
            <a:ext cx="4826000" cy="1333500"/>
          </a:xfrm>
          <a:prstGeom prst="roundRect">
            <a:avLst>
              <a:gd name="adj" fmla="val 7619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905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112000" y="18415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短期规划 (1-2年) · 技术验证与保护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完成原理样机的搭建与核心指标的初步实验验证，建立完善的技术壁垒，申请并获得3-5项核心技术发明专利。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413500" y="3238500"/>
            <a:ext cx="4826000" cy="1333500"/>
          </a:xfrm>
          <a:prstGeom prst="roundRect">
            <a:avLst>
              <a:gd name="adj" fmla="val 7619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34290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12000" y="33655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中期规划 (3-5年) · 产业合作与落地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与2-3家行业龙头制造企业建立深度合作关系，开展工业级应用试点，完成产品化改造并正式推出首代商业化产品。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6413500" y="4762500"/>
            <a:ext cx="4826000" cy="1333500"/>
          </a:xfrm>
          <a:prstGeom prst="roundRect">
            <a:avLst>
              <a:gd name="adj" fmla="val 7619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49530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12000" y="4889500"/>
            <a:ext cx="393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长期规划 (5年以上) · 行业领跑与拓展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成为智能制造细分领域公认的核心技术供应商，横向拓展AI技术在其他制造工艺中的应用场景，构建完整的技术生态。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52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5F5F7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794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1" i="0" u="none" strike="noStrike" spc="40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716</Words>
  <Application>Microsoft Office PowerPoint</Application>
  <PresentationFormat>宽屏</PresentationFormat>
  <Paragraphs>170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嘉轩 韩</cp:lastModifiedBy>
  <cp:revision>1</cp:revision>
  <dcterms:modified xsi:type="dcterms:W3CDTF">2026-05-26T15:44:52Z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{"Label":"1","ContentProducer":"001191110102MACQD9K64010000","ProduceID":"7644220864368905420","ReservedCode1":"","ContentPropagator":"","PropagateID":"","ReservedCode2":""}</vt:lpwstr>
  </property>
</Properties>
</file>